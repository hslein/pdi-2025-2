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itter Medium" panose="020B0604020202020204" charset="0"/>
      <p:regular r:id="rId13"/>
    </p:embeddedFont>
    <p:embeddedFont>
      <p:font typeface="Open Sans" panose="020B0606030504020204" pitchFamily="34" charset="0"/>
      <p:regular r:id="rId14"/>
      <p:bold r:id="rId15"/>
      <p:italic r:id="rId16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924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9" Type="http://schemas.openxmlformats.org/officeDocument/2006/relationships/image" Target="../media/image4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07970"/>
            <a:ext cx="93602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Detección de Residuos con YOLOv11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07475"/>
            <a:ext cx="893230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Usando el Dataset TACO: Un Proyecto Final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514612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Hans Vicent Thor Slein Ocampo</a:t>
            </a:r>
            <a:endParaRPr lang="en-US" sz="2200" dirty="0"/>
          </a:p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Nacional de Colombia, Manizales Caldas</a:t>
            </a:r>
          </a:p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Procesamiento Digital de Imagenes</a:t>
            </a:r>
          </a:p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12/12/2025</a:t>
            </a:r>
            <a:endParaRPr lang="en-US" sz="2200" dirty="0"/>
          </a:p>
        </p:txBody>
      </p:sp>
      <p:pic>
        <p:nvPicPr>
          <p:cNvPr id="1028" name="Picture 4" descr="Vectores de Ilustracion taco kawaii - Descarga vectores gratis de gran  calidad de Freepik | Freepik">
            <a:extLst>
              <a:ext uri="{FF2B5EF4-FFF2-40B4-BE49-F238E27FC236}">
                <a16:creationId xmlns:a16="http://schemas.microsoft.com/office/drawing/2014/main" id="{6F20094F-2712-DACA-2BCD-3BBF89EF8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8154" y="5159714"/>
            <a:ext cx="2951734" cy="2951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a basura y la crisis ambiental en Bogotá - Razón Pública">
            <a:extLst>
              <a:ext uri="{FF2B5EF4-FFF2-40B4-BE49-F238E27FC236}">
                <a16:creationId xmlns:a16="http://schemas.microsoft.com/office/drawing/2014/main" id="{0DC50EF1-4194-83B4-BD3B-80F2A586F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04013"/>
            <a:ext cx="14630400" cy="272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/>
          <p:nvPr/>
        </p:nvSpPr>
        <p:spPr>
          <a:xfrm>
            <a:off x="793790" y="1320165"/>
            <a:ext cx="91651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El Problema Global de los Residuos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69106"/>
            <a:ext cx="4196358" cy="4540210"/>
          </a:xfrm>
          <a:prstGeom prst="roundRect">
            <a:avLst>
              <a:gd name="adj" fmla="val 227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028224" y="260354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2790587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510796"/>
            <a:ext cx="372749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Identificación Compleja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028224" y="4497467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clasificación y detección de residuos en entornos reales es un desafío significativo. La variabilidad en formas, tamaños, texturas, iluminación y oclusiones dificulta enormemente la tarea.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369106"/>
            <a:ext cx="4196358" cy="4540210"/>
          </a:xfrm>
          <a:prstGeom prst="roundRect">
            <a:avLst>
              <a:gd name="adj" fmla="val 227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5451396" y="260354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562" y="2790587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510796"/>
            <a:ext cx="372749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Impacto Ambiental Crítico</a:t>
            </a:r>
            <a:endParaRPr lang="en-US" sz="2650" dirty="0"/>
          </a:p>
        </p:txBody>
      </p:sp>
      <p:sp>
        <p:nvSpPr>
          <p:cNvPr id="12" name="Text 8"/>
          <p:cNvSpPr/>
          <p:nvPr/>
        </p:nvSpPr>
        <p:spPr>
          <a:xfrm>
            <a:off x="5451396" y="4497467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acumulación de basura tiene consecuencias devastadoras para el medio ambiente. Una detección eficiente es crucial para mitigar la contaminación de 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ecosistemas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temenos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mundo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369106"/>
            <a:ext cx="4196358" cy="4540210"/>
          </a:xfrm>
          <a:prstGeom prst="roundRect">
            <a:avLst>
              <a:gd name="adj" fmla="val 227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9874568" y="260354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61734" y="2790587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510796"/>
            <a:ext cx="372749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 err="1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Gestión</a:t>
            </a: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Inteligente</a:t>
            </a:r>
            <a:endParaRPr lang="en-US" sz="2650" dirty="0"/>
          </a:p>
        </p:txBody>
      </p:sp>
      <p:sp>
        <p:nvSpPr>
          <p:cNvPr id="17" name="Text 12"/>
          <p:cNvSpPr/>
          <p:nvPr/>
        </p:nvSpPr>
        <p:spPr>
          <a:xfrm>
            <a:off x="9874568" y="4497467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proyecto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 base para sistemas de gestión de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residuos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automatizando la recolección y el reciclaje, contribuyendo a ciudades más limpias y sostenibles.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61272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Solución</a:t>
            </a: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: Detección de Objetos con YOLOv11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89" y="2168739"/>
            <a:ext cx="451973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Tarea y Herramienta Elegida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78076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tarea principal es la 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detección de objetos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identificando y localizando residuos mediante </a:t>
            </a:r>
            <a:r>
              <a:rPr lang="en-US" sz="1750" i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bounding boxes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precisos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6289" y="3887927"/>
            <a:ext cx="7604284" cy="1218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ha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optado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 </a:t>
            </a: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YOLOv11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un modelo de última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generación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para vision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computadora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soporte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deteccion de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objetos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reconocido por su equilibrio entre </a:t>
            </a:r>
            <a:r>
              <a:rPr lang="en-US" sz="17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velocidad, precisión y ligereza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61414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Bastante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idóneo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aplicaciones en tiempo real y despliegues en diversas plataformas.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959096" y="3550563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0D03CC8-3EC1-C879-F821-EC52F2263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149" y="2878076"/>
            <a:ext cx="4089453" cy="241792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79DB4B4-F528-3F5C-CFBE-6535F808F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2822" y="5433746"/>
            <a:ext cx="4121423" cy="27143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87655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TACO: La Fuente de Datos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7708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Origen y Acceso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61241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TACO (Trash Annotations in Context) importado desde Roboflow.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3396377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589371"/>
            <a:ext cx="29502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Volumen de Imágenes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079790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Más de 1500 imágenes, cada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anotada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 la ubicación y tipo de residuos.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3396377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60488"/>
            <a:ext cx="28515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58 Clases de Residuos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350907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amplia variedad que cubre desde plásticos y metales hasta vidrio y orgánicos, reflejando la complejidad de los desechos reales.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655945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770578" y="5041940"/>
            <a:ext cx="29219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Ejemplo</a:t>
            </a: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de </a:t>
            </a:r>
            <a:r>
              <a:rPr lang="en-US" sz="2200" dirty="0" err="1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Clases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544530" y="5532357"/>
            <a:ext cx="43048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850"/>
              </a:lnSpc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Aerosol, 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Aluminium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blister pack,  Drink carton, Plastic gloves, Scrap metal, Styrofoam piece, Wrapping paper, Plastic film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4315" y="2439201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655945"/>
            <a:ext cx="339328" cy="339328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C39383B6-358F-40F1-9413-562826DC3671}"/>
              </a:ext>
            </a:extLst>
          </p:cNvPr>
          <p:cNvSpPr/>
          <p:nvPr/>
        </p:nvSpPr>
        <p:spPr>
          <a:xfrm>
            <a:off x="441790" y="7776422"/>
            <a:ext cx="14065320" cy="315677"/>
          </a:xfrm>
          <a:prstGeom prst="roundRect">
            <a:avLst>
              <a:gd name="adj" fmla="val 4202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143" y="450294"/>
            <a:ext cx="7905274" cy="509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Arquitectura y Entrenamiento del Modelo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143" y="1286589"/>
            <a:ext cx="13488114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corazón de nuestro sistema reside en la arquitectura avanzada de YOLOv11, diseñada para un rendimiento óptimo en la detección de objetos.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71143" y="1731169"/>
            <a:ext cx="6662499" cy="163116"/>
          </a:xfrm>
          <a:prstGeom prst="roundRect">
            <a:avLst>
              <a:gd name="adj" fmla="val 4202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734258" y="2302073"/>
            <a:ext cx="2072402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Arquitectura YOLOv11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4258" y="2654856"/>
            <a:ext cx="6336268" cy="189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</a:t>
            </a: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YOLOv11m</a:t>
            </a:r>
          </a:p>
          <a:p>
            <a:pPr>
              <a:lnSpc>
                <a:spcPts val="2050"/>
              </a:lnSpc>
            </a:pPr>
            <a:r>
              <a:rPr lang="es-CO" sz="16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Informacion</a:t>
            </a:r>
            <a:r>
              <a:rPr lang="es-CO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s-CO" sz="16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Tecnica</a:t>
            </a:r>
            <a:r>
              <a:rPr lang="es-CO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marL="742950" lvl="1" indent="-28575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125 capas</a:t>
            </a:r>
          </a:p>
          <a:p>
            <a:pPr marL="742950" lvl="1" indent="-28575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20,075,521 parámetros</a:t>
            </a:r>
          </a:p>
          <a:p>
            <a:pPr marL="742950" lvl="1" indent="-28575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 un modelo mediano dentro del mismo YOLO11 con un buen balance entre velocidad y </a:t>
            </a:r>
            <a:r>
              <a:rPr lang="es-CO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precision</a:t>
            </a:r>
            <a:endParaRPr lang="es-CO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1" indent="-28575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s-MX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2050"/>
              </a:lnSpc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96758" y="1731169"/>
            <a:ext cx="6662499" cy="163116"/>
          </a:xfrm>
          <a:prstGeom prst="roundRect">
            <a:avLst>
              <a:gd name="adj" fmla="val 4202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559873" y="2057400"/>
            <a:ext cx="6336268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790" y="7776422"/>
            <a:ext cx="6791852" cy="315677"/>
          </a:xfrm>
          <a:prstGeom prst="roundRect">
            <a:avLst>
              <a:gd name="adj" fmla="val 4202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34258" y="5637310"/>
            <a:ext cx="2212300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4258" y="6286604"/>
            <a:ext cx="6336268" cy="78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42066" y="7776422"/>
            <a:ext cx="6906141" cy="315677"/>
          </a:xfrm>
          <a:prstGeom prst="roundRect">
            <a:avLst>
              <a:gd name="adj" fmla="val 4202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559873" y="5989623"/>
            <a:ext cx="2385893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59873" y="6498431"/>
            <a:ext cx="6336268" cy="52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25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FBD146F-B7FC-2F73-968D-F97D6AE15093}"/>
              </a:ext>
            </a:extLst>
          </p:cNvPr>
          <p:cNvSpPr txBox="1"/>
          <p:nvPr/>
        </p:nvSpPr>
        <p:spPr>
          <a:xfrm>
            <a:off x="7559873" y="2215968"/>
            <a:ext cx="4839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Bitter Medium" panose="020B0604020202020204" charset="0"/>
              </a:rPr>
              <a:t>Entrenamiento del Modelo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0015E47-0562-4295-FBE0-12761FAD0097}"/>
              </a:ext>
            </a:extLst>
          </p:cNvPr>
          <p:cNvSpPr txBox="1"/>
          <p:nvPr/>
        </p:nvSpPr>
        <p:spPr>
          <a:xfrm>
            <a:off x="7559873" y="2572399"/>
            <a:ext cx="58684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Entorno: </a:t>
            </a:r>
            <a:r>
              <a:rPr lang="es-CO" sz="16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Kaggle</a:t>
            </a:r>
            <a:r>
              <a:rPr lang="es-CO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Notebook</a:t>
            </a: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(GPU: T4/P100/V100).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s-CO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TACO</a:t>
            </a: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desde </a:t>
            </a:r>
            <a:r>
              <a:rPr lang="es-CO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Roboflow</a:t>
            </a: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58 clases.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Tamaño del </a:t>
            </a:r>
            <a:r>
              <a:rPr lang="es-CO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Split: 1500 imágenes -&gt; Train 70%, </a:t>
            </a:r>
            <a:r>
              <a:rPr lang="es-CO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Validacion</a:t>
            </a: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20%, Test 10%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Hiperparametros</a:t>
            </a: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30 </a:t>
            </a:r>
            <a:r>
              <a:rPr lang="es-CO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Epocas</a:t>
            </a: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s-CO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Batch</a:t>
            </a: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s-CO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size</a:t>
            </a: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8, </a:t>
            </a:r>
            <a:r>
              <a:rPr lang="es-CO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Imgsz</a:t>
            </a:r>
            <a:r>
              <a:rPr lang="es-CO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128</a:t>
            </a:r>
          </a:p>
          <a:p>
            <a:pPr marL="342900" indent="-342900">
              <a:buFont typeface="+mj-lt"/>
              <a:buAutoNum type="arabicPeriod"/>
            </a:pPr>
            <a:endParaRPr lang="es-CO" sz="1600" dirty="0">
              <a:latin typeface="Bitter Medium" panose="020B0604020202020204" charset="0"/>
            </a:endParaRPr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CF429732-B9D1-36D2-0106-92943DC25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660" y="4290401"/>
            <a:ext cx="10070800" cy="332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DD93D511-A184-5077-D5F1-448698E8D9D6}"/>
              </a:ext>
            </a:extLst>
          </p:cNvPr>
          <p:cNvSpPr txBox="1"/>
          <p:nvPr/>
        </p:nvSpPr>
        <p:spPr>
          <a:xfrm>
            <a:off x="3902392" y="7764621"/>
            <a:ext cx="2938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Matriz de </a:t>
            </a:r>
            <a:r>
              <a:rPr lang="es-CO" dirty="0" err="1"/>
              <a:t>Confusion</a:t>
            </a:r>
            <a:endParaRPr lang="es-CO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860E2FE-9EAD-E7D6-0B4E-CB865209E98C}"/>
              </a:ext>
            </a:extLst>
          </p:cNvPr>
          <p:cNvSpPr txBox="1"/>
          <p:nvPr/>
        </p:nvSpPr>
        <p:spPr>
          <a:xfrm>
            <a:off x="8065213" y="7776422"/>
            <a:ext cx="290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Curva de Confianza F1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4246"/>
            <a:ext cx="103337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Exportación</a:t>
            </a: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del Modelo a </a:t>
            </a:r>
            <a:r>
              <a:rPr lang="en-US" sz="4450" dirty="0" err="1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TorchScript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54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hizo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exportacion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Torchscript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se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hizo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comparacion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entre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original y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exportado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57642" y="2654408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614" y="3780592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4483656"/>
            <a:ext cx="34338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4974074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2988927"/>
            <a:ext cx="6408063" cy="1494729"/>
          </a:xfrm>
          <a:prstGeom prst="roundRect">
            <a:avLst>
              <a:gd name="adj" fmla="val 6087"/>
            </a:avLst>
          </a:prstGeom>
          <a:solidFill>
            <a:srgbClr val="FFF8F0"/>
          </a:solidFill>
          <a:ln/>
        </p:spPr>
        <p:txBody>
          <a:bodyPr/>
          <a:lstStyle/>
          <a:p>
            <a:r>
              <a:rPr lang="es-CO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 Exportado a </a:t>
            </a:r>
            <a:r>
              <a:rPr lang="es-CO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Torchscript</a:t>
            </a:r>
            <a:r>
              <a:rPr lang="es-CO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(.</a:t>
            </a:r>
            <a:r>
              <a:rPr lang="es-CO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ts</a:t>
            </a:r>
            <a:r>
              <a:rPr lang="es-CO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Ejecución directa en </a:t>
            </a:r>
            <a:r>
              <a:rPr lang="es-MX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PyTorch</a:t>
            </a:r>
            <a:r>
              <a:rPr lang="es-MX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JIT.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Tiempo medido: </a:t>
            </a:r>
            <a:r>
              <a:rPr lang="es-MX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~988 ms por imagen</a:t>
            </a:r>
            <a:r>
              <a:rPr lang="es-MX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Mayor portabilidad, menor velocidad.</a:t>
            </a:r>
          </a:p>
        </p:txBody>
      </p:sp>
      <p:sp>
        <p:nvSpPr>
          <p:cNvPr id="11" name="Shape 8"/>
          <p:cNvSpPr/>
          <p:nvPr/>
        </p:nvSpPr>
        <p:spPr>
          <a:xfrm>
            <a:off x="7315200" y="2654408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6371" y="3780592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93790" y="2986701"/>
            <a:ext cx="5475064" cy="119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 Original (.pt,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Ultralitycs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Utiliza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pipeline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optimizado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Tiempor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real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informado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~44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ms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imagen</a:t>
            </a:r>
          </a:p>
        </p:txBody>
      </p:sp>
      <p:sp>
        <p:nvSpPr>
          <p:cNvPr id="15" name="Text 11"/>
          <p:cNvSpPr/>
          <p:nvPr/>
        </p:nvSpPr>
        <p:spPr>
          <a:xfrm>
            <a:off x="7685842" y="4974074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B6298BA-9702-7379-5621-1E56774DE9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3867" y="4176968"/>
            <a:ext cx="6683438" cy="3341719"/>
          </a:xfrm>
          <a:prstGeom prst="rect">
            <a:avLst/>
          </a:prstGeom>
        </p:spPr>
      </p:pic>
      <p:sp>
        <p:nvSpPr>
          <p:cNvPr id="18" name="Shape 3">
            <a:extLst>
              <a:ext uri="{FF2B5EF4-FFF2-40B4-BE49-F238E27FC236}">
                <a16:creationId xmlns:a16="http://schemas.microsoft.com/office/drawing/2014/main" id="{2CE31DC0-80A9-F2E7-9A31-9AA8A6796DB6}"/>
              </a:ext>
            </a:extLst>
          </p:cNvPr>
          <p:cNvSpPr/>
          <p:nvPr/>
        </p:nvSpPr>
        <p:spPr>
          <a:xfrm>
            <a:off x="267128" y="7769993"/>
            <a:ext cx="14204413" cy="354329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8CA2843-86AE-ABC2-BA73-2DACB0C5918A}"/>
              </a:ext>
            </a:extLst>
          </p:cNvPr>
          <p:cNvSpPr txBox="1"/>
          <p:nvPr/>
        </p:nvSpPr>
        <p:spPr>
          <a:xfrm>
            <a:off x="4144397" y="7769993"/>
            <a:ext cx="6225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 err="1">
                <a:solidFill>
                  <a:schemeClr val="bg1"/>
                </a:solidFill>
                <a:latin typeface="Bitter Medium" panose="020B0604020202020204" charset="0"/>
              </a:rPr>
              <a:t>Metricas</a:t>
            </a:r>
            <a:r>
              <a:rPr lang="es-CO" sz="2000" dirty="0">
                <a:solidFill>
                  <a:schemeClr val="bg1"/>
                </a:solidFill>
                <a:latin typeface="Bitter Medium" panose="020B0604020202020204" charset="0"/>
              </a:rPr>
              <a:t> Principales del Entrenamiento en YOLO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997" y="582454"/>
            <a:ext cx="8983742" cy="658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Inferencia en Entorno Local (Python)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6997" y="1661636"/>
            <a:ext cx="13156406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Segun lo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requerido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 Desarrollo un script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python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fue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corrido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VisualStudio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Code se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hizo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prueba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 la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siguiente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imagen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36997" y="2782848"/>
            <a:ext cx="391346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Funcionamiento del Script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736997" y="3388162"/>
            <a:ext cx="632138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script recibe la ruta de una imagen como entrada.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6997" y="3798808"/>
            <a:ext cx="632138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Carga el modelo YOLOv11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optimizado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(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Descargado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desde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Kaggle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36997" y="4209455"/>
            <a:ext cx="6321385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Segun las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detecciones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devuelva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marca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 boxes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devuleve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mismo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visualizarlo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mejor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36997" y="4957048"/>
            <a:ext cx="6321385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Guarda la imagen resultante con las detecciones visualizadas.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36997" y="5841444"/>
            <a:ext cx="328767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Tiempos de Inferencia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736997" y="6446758"/>
            <a:ext cx="6321385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tiempos promedio de inferencia son de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aproximadamente</a:t>
            </a:r>
            <a:r>
              <a:rPr lang="en-US" sz="16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0.2-0.9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segundos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</a:t>
            </a: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imagen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79638" y="2761774"/>
            <a:ext cx="632138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4655305-8544-C286-66BE-3CDE97AE2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86" y="6072027"/>
            <a:ext cx="7588775" cy="204104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78CB97F-FEFF-E1C2-39E3-70C8EF3DA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589" y="2822111"/>
            <a:ext cx="5239481" cy="30293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410" y="764246"/>
            <a:ext cx="121497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Despliegue</a:t>
            </a: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</a:t>
            </a:r>
            <a:r>
              <a:rPr lang="en-US" sz="4450" dirty="0" err="1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</a:t>
            </a: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Hugging Face Space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801410" y="18273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 desplegado una aplicación web en Hugging Face Space.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Desde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colab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crearon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editaron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archivos</a:t>
            </a:r>
            <a:endParaRPr lang="en-US" sz="1750" dirty="0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r>
              <a:rPr lang="es-CO" dirty="0"/>
              <a:t>https://hslein-pdi-1.hf.space/predict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3795832"/>
            <a:ext cx="28878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4286250"/>
            <a:ext cx="38888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0671" y="3795832"/>
            <a:ext cx="35096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70671" y="4286250"/>
            <a:ext cx="388893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713238" y="37958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713238" y="4286250"/>
            <a:ext cx="388893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F6A672BA-266B-49FE-11CF-30BB168C687F}"/>
              </a:ext>
            </a:extLst>
          </p:cNvPr>
          <p:cNvSpPr/>
          <p:nvPr/>
        </p:nvSpPr>
        <p:spPr>
          <a:xfrm>
            <a:off x="1180624" y="3948232"/>
            <a:ext cx="28878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C1BFDC3B-0C1B-6718-0DCF-51C05B946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2787616"/>
            <a:ext cx="7448764" cy="2562469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F23307B6-4271-145C-3E5A-CC32054E5704}"/>
              </a:ext>
            </a:extLst>
          </p:cNvPr>
          <p:cNvSpPr txBox="1"/>
          <p:nvPr/>
        </p:nvSpPr>
        <p:spPr>
          <a:xfrm>
            <a:off x="8366892" y="2785940"/>
            <a:ext cx="38889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Repositorio en </a:t>
            </a:r>
            <a:r>
              <a:rPr lang="es-CO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HuggingFace</a:t>
            </a:r>
            <a:r>
              <a:rPr lang="es-CO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 los archivos necesarios para que la API funcione correctamente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CF9E940E-E6F4-7B41-A4B9-0407DF1F4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298" y="5160051"/>
            <a:ext cx="7136830" cy="2979940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4CFDCB0D-FA09-07E4-DEE8-AF3E641F7844}"/>
              </a:ext>
            </a:extLst>
          </p:cNvPr>
          <p:cNvSpPr txBox="1"/>
          <p:nvPr/>
        </p:nvSpPr>
        <p:spPr>
          <a:xfrm>
            <a:off x="1941815" y="5703256"/>
            <a:ext cx="49748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Pantallazo de los logs que se generan al llamar a la API de </a:t>
            </a:r>
            <a:r>
              <a:rPr lang="es-CO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Hugging</a:t>
            </a:r>
            <a:r>
              <a:rPr lang="es-CO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s-CO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Face</a:t>
            </a:r>
            <a:r>
              <a:rPr lang="es-CO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donde se evidencia la petición hecha y su estado de </a:t>
            </a:r>
            <a:r>
              <a:rPr lang="es-CO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Exito</a:t>
            </a:r>
            <a:endParaRPr lang="es-CO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6879"/>
            <a:ext cx="84020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Resultados y Limitaciones Clave</a:t>
            </a:r>
            <a:endParaRPr lang="en-US" sz="4450" dirty="0"/>
          </a:p>
        </p:txBody>
      </p:sp>
      <p:sp>
        <p:nvSpPr>
          <p:cNvPr id="12" name="Text 10"/>
          <p:cNvSpPr/>
          <p:nvPr/>
        </p:nvSpPr>
        <p:spPr>
          <a:xfrm>
            <a:off x="793790" y="500503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 err="1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Limitaciones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93790" y="5530390"/>
            <a:ext cx="82988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s-MX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modelo no es completamente consistente en tareas de visión; en imágenes complejas o con objetos parcialmente ocultos, la detección puede fallar o producir predicciones incorrectas.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6365680"/>
            <a:ext cx="74871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s-MX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Los modelos no siempre interpretan de manera uniforme el mismo tipo de imagen, especialmente cuando hay elementos ambiguos, superpuestos o muy pequeños.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99521" y="43925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2C95767-2B96-FDD2-1086-49E8EBD73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048" y="3107933"/>
            <a:ext cx="5013789" cy="5013789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FFB32236-71A2-7FD9-E2F4-32A6A6683325}"/>
              </a:ext>
            </a:extLst>
          </p:cNvPr>
          <p:cNvSpPr txBox="1"/>
          <p:nvPr/>
        </p:nvSpPr>
        <p:spPr>
          <a:xfrm>
            <a:off x="1017142" y="1861240"/>
            <a:ext cx="7643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err="1"/>
              <a:t>Train_Batch</a:t>
            </a:r>
            <a:r>
              <a:rPr lang="es-CO" dirty="0"/>
              <a:t> y </a:t>
            </a:r>
            <a:r>
              <a:rPr lang="es-CO" dirty="0" err="1"/>
              <a:t>Val_Batch</a:t>
            </a:r>
            <a:r>
              <a:rPr lang="es-CO" dirty="0"/>
              <a:t>:</a:t>
            </a:r>
            <a:r>
              <a:rPr lang="es-MX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Ejemplos de predicciones del modelo en lotes de entrenamiento y validación. Las imágenes muestran la capacidad del modelo para detectar diferentes tipos de residuos en las imágenes</a:t>
            </a:r>
            <a:r>
              <a:rPr lang="es-CO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C2B57C8-6E1E-8AC4-2241-8C5423DC8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984" y="2895600"/>
            <a:ext cx="2438400" cy="24384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29F9FD95-9B41-8310-E4F4-EB7120E34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857" y="2906611"/>
            <a:ext cx="2427390" cy="24273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79938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75416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888" y="2545437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282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Aprendizajes Clave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773091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proyecto ha demostrado la viabilidad de YOLOv11 para la detección de residuos, ofreciendo una experiencia práctica invaluable en visión por computador.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2375416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5060" y="2545437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3776" y="3282672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Potencial para Aplicaciones Reales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443776" y="4127421"/>
            <a:ext cx="37427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modelo desarrollado tiene un gran potencial para ser integrado en sistemas de robótica, drones de limpieza o estaciones de reciclaje inteligentes, impactando positivamente la gestión ambiental.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50556" y="1510783"/>
            <a:ext cx="340162" cy="340162"/>
          </a:xfrm>
          <a:prstGeom prst="rect">
            <a:avLst/>
          </a:prstGeom>
        </p:spPr>
      </p:pic>
      <p:pic>
        <p:nvPicPr>
          <p:cNvPr id="5122" name="Picture 2" descr="Garbage drone: Más de 243 ilustraciones y dibujos de stock con licencia  libres de regalías | Shutterstock">
            <a:extLst>
              <a:ext uri="{FF2B5EF4-FFF2-40B4-BE49-F238E27FC236}">
                <a16:creationId xmlns:a16="http://schemas.microsoft.com/office/drawing/2014/main" id="{CF66CA43-1861-EDC2-6CB2-6048176C9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4655" y="4113179"/>
            <a:ext cx="3742729" cy="401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830</Words>
  <Application>Microsoft Office PowerPoint</Application>
  <PresentationFormat>Personalizado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Bitter Medium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Hans Slein</cp:lastModifiedBy>
  <cp:revision>2</cp:revision>
  <dcterms:created xsi:type="dcterms:W3CDTF">2025-12-12T02:26:43Z</dcterms:created>
  <dcterms:modified xsi:type="dcterms:W3CDTF">2025-12-12T05:36:46Z</dcterms:modified>
</cp:coreProperties>
</file>